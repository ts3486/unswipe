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4C8DFF"/>
                </a:solidFill>
                <a:latin typeface="Calibri"/>
              </a:defRPr>
            </a:pPr>
            <a:r>
              <a:t>Unmatch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6EDF7"/>
                </a:solidFill>
                <a:latin typeface="Calibri"/>
              </a:defRPr>
            </a:pPr>
            <a:r>
              <a:t>Take back your time from dating apps.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7B3C7"/>
                </a:solidFill>
                <a:latin typeface="Calibri"/>
              </a:defRPr>
            </a:pPr>
            <a:r>
              <a:t>Marketing Plan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20440"/>
            <a:ext cx="2743200" cy="3810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8D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Monetization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3716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B3C7"/>
                </a:solidFill>
                <a:latin typeface="Calibri"/>
              </a:defRPr>
            </a:pPr>
            <a:r>
              <a:t>One-time $6.99 unlock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8D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Positioning &amp; Messaging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9202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B3C7"/>
                </a:solidFill>
                <a:latin typeface="Calibri"/>
              </a:defRPr>
            </a:pPr>
            <a:r>
              <a:t>How we differentiate in the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8D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68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Target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68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B3C7"/>
                </a:solidFill>
                <a:latin typeface="Calibri"/>
              </a:defRPr>
            </a:pPr>
            <a:r>
              <a:t>Primary and secondary personas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8D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Channel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0175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B3C7"/>
                </a:solidFill>
                <a:latin typeface="Calibri"/>
              </a:defRPr>
            </a:pPr>
            <a:r>
              <a:t>ASO, Reddit, TikTok, Content, Podcasts, Partnerships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8D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66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Launch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566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B3C7"/>
                </a:solidFill>
                <a:latin typeface="Calibri"/>
              </a:defRPr>
            </a:pPr>
            <a:r>
              <a:t>Pre-launch → Soft Launch → Growth → Sustain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8D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1148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B3C7"/>
                </a:solidFill>
                <a:latin typeface="Calibri"/>
              </a:defRPr>
            </a:pPr>
            <a:r>
              <a:t>Conversion funnel and targets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8D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663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663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B3C7"/>
                </a:solidFill>
                <a:latin typeface="Calibri"/>
              </a:defRPr>
            </a:pPr>
            <a:r>
              <a:t>Lean launch cost breakdown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8D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212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Risks &amp; Mitigation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2120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B3C7"/>
                </a:solidFill>
                <a:latin typeface="Calibri"/>
              </a:defRPr>
            </a:pPr>
            <a:r>
              <a:t>Anticipated challenges and responses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60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8D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760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Long-Term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57607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B3C7"/>
                </a:solidFill>
                <a:latin typeface="Calibri"/>
              </a:defRPr>
            </a:pPr>
            <a:r>
              <a:t>Post-V1 expansion opportunities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Monetization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7B3C7"/>
                </a:solidFill>
                <a:latin typeface="Calibri"/>
              </a:defRPr>
            </a:pPr>
            <a:r>
              <a:t>One-Time Unlock  —  Free to install, pay to unlock core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00400" cy="292608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B3C7"/>
                </a:solidFill>
                <a:latin typeface="Calibri"/>
              </a:defRPr>
            </a:pPr>
            <a:r>
              <a:t>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C8DFF"/>
                </a:solidFill>
                <a:latin typeface="Calibri"/>
              </a:defRPr>
            </a:pPr>
            <a:r>
              <a:t>$6.99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7"/>
                </a:solidFill>
                <a:latin typeface="Calibri"/>
              </a:defRPr>
            </a:pPr>
            <a:r>
              <a:t>Single payment, lifetime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B3C7"/>
                </a:solidFill>
                <a:latin typeface="Calibri"/>
              </a:defRPr>
            </a:pPr>
            <a:r>
              <a:t>Less than one dating app boost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292608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474720" cy="50800"/>
          </a:xfrm>
          <a:prstGeom prst="rect">
            <a:avLst/>
          </a:prstGeom>
          <a:solidFill>
            <a:srgbClr val="47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7C28B"/>
                </a:solidFill>
                <a:latin typeface="Calibri"/>
              </a:defRPr>
            </a:pPr>
            <a:r>
              <a:t>Free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Onboarding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32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Day 1 of starter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254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1 panic reset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118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Paywall after first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645920"/>
            <a:ext cx="3474720" cy="292608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645920"/>
            <a:ext cx="3474720" cy="5080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828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C14E"/>
                </a:solidFill>
                <a:latin typeface="Calibri"/>
              </a:defRPr>
            </a:pPr>
            <a:r>
              <a:t>Why $6.99?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240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Impulse purchase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532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Signals value, filters casuals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8254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Competitive with niche apps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118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Easy to raise, hard to lower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Regional Pricing: Use Apple/Google auto-generated tiers. Consider $3.99 equivalent for India, Brazil, SE Asia.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Positioning &amp; Messaging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EDF7"/>
                </a:solidFill>
                <a:latin typeface="Calibri"/>
              </a:defRPr>
            </a:pPr>
            <a:r>
              <a:t>"Unmatch helps you break the swipe-check-spend cycle with a 60-second reset</a:t>
            </a:r>
            <a:br/>
            <a:r>
              <a:t>when urges hit. No lectures, no blocking, no accounts. Just a calm, private tool</a:t>
            </a:r>
            <a:br/>
            <a:r>
              <a:t>that works offline."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Competitive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C14E"/>
                </a:solidFill>
                <a:latin typeface="Calibri"/>
              </a:defRPr>
            </a:pPr>
            <a:r>
              <a:t>Screen Time / Digital Wellbeing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3832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Too generic — not tailored to dating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7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C14E"/>
                </a:solidFill>
                <a:latin typeface="Calibri"/>
              </a:defRPr>
            </a:pPr>
            <a:r>
              <a:t>I Am Sober / Quitzilla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7673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Sobriety framing too heavy for casual overuse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51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C14E"/>
                </a:solidFill>
                <a:latin typeface="Calibri"/>
              </a:defRPr>
            </a:pPr>
            <a:r>
              <a:t>Therapy apps (BetterHelp)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15137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Overkill, expensive, requires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35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C14E"/>
                </a:solidFill>
                <a:latin typeface="Calibri"/>
              </a:defRPr>
            </a:pPr>
            <a:r>
              <a:t>Deleting the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53542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80%+ reinstall within a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19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C14E"/>
                </a:solidFill>
                <a:latin typeface="Calibri"/>
              </a:defRPr>
            </a:pPr>
            <a:r>
              <a:t>Willpower alone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919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Unmatch gives a structured 60s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Core Value Propositions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943600"/>
            <a:ext cx="2103120" cy="50292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8DFF"/>
                </a:solidFill>
                <a:latin typeface="Calibri"/>
              </a:defRPr>
            </a:pPr>
            <a:r>
              <a:t>60-second panic reset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5943600"/>
            <a:ext cx="2103120" cy="50292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5989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8DFF"/>
                </a:solidFill>
                <a:latin typeface="Calibri"/>
              </a:defRPr>
            </a:pPr>
            <a:r>
              <a:t>Works offline, no account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5943600"/>
            <a:ext cx="2103120" cy="50292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5989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8DFF"/>
                </a:solidFill>
                <a:latin typeface="Calibri"/>
              </a:defRPr>
            </a:pPr>
            <a:r>
              <a:t>Spend delay cards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5943600"/>
            <a:ext cx="2103120" cy="50292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5989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8DFF"/>
                </a:solidFill>
                <a:latin typeface="Calibri"/>
              </a:defRPr>
            </a:pPr>
            <a:r>
              <a:t>Resist Rank gamification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5943600"/>
            <a:ext cx="2103120" cy="50292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5989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8DFF"/>
                </a:solidFill>
                <a:latin typeface="Calibri"/>
              </a:defRPr>
            </a:pPr>
            <a:r>
              <a:t>Stealth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Target 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1148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5080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8DFF"/>
                </a:solidFill>
                <a:latin typeface="Calibri"/>
              </a:defRPr>
            </a:pPr>
            <a:r>
              <a:t>Primary: "The Aware Swiper"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Age 22–38, any gender, urban/suburban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Uses 2–3 dating apps simultaneously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511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Checks apps 10–30+ times/day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4378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Has spent on boosts and felt regret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363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Has tried deleting apps, reinstalled in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29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Knows it's a problem but doesn't say "addicted"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Values privacy — wouldn't post about this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5120640" cy="2743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120640" cy="5080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5544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C14E"/>
                </a:solidFill>
                <a:latin typeface="Calibri"/>
              </a:defRPr>
            </a:pPr>
            <a:r>
              <a:t>Secondary: "The Spending Regretter"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65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Skews older: 28–40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585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Primary pain is financial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511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$50–200+/month on IAP, dates, gifts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4378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Converts on the "ironic savings" pitch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480560"/>
            <a:ext cx="5120640" cy="18288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480560"/>
            <a:ext cx="5120640" cy="508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6634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  <a:latin typeface="Calibri"/>
              </a:defRPr>
            </a:pPr>
            <a:r>
              <a:t>Anti-Persona (Do Not Target)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074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Happily using dating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3675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Seeking relationship coaching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6601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Minors / active clinical treatment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Channel Strategy: App Store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7C28B"/>
                </a:solidFill>
                <a:latin typeface="Calibri"/>
              </a:defRPr>
            </a:pPr>
            <a:r>
              <a:t>Highest ROI channel — do this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743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5080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8DFF"/>
                </a:solidFill>
                <a:latin typeface="Calibri"/>
              </a:defRPr>
            </a:pPr>
            <a:r>
              <a:t>Target Keywords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dating app addiction, stop swiping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414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dating app detox, tinder break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340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hinge addiction, bumble too much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2666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screen time dating, dating app spending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192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digital wellbeing dating, swipe less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5120640" cy="2743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554480"/>
            <a:ext cx="5120640" cy="50800"/>
          </a:xfrm>
          <a:prstGeom prst="rect">
            <a:avLst/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37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AA7FF"/>
                </a:solidFill>
                <a:latin typeface="Calibri"/>
              </a:defRPr>
            </a:pPr>
            <a:r>
              <a:t>App Store Screenshots (5 Required)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1. Home + "Resist" CTA → "60 seconds to reset"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414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2. Breathing screen → "Breathe through the urge"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340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3. Progress calendar → "Watch streaks grow"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2666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4. Spend delay → "Think before you boost"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192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5. Stealth notification → "No one has to know"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 Store Listing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B3C7"/>
                </a:solidFill>
                <a:latin typeface="Calibri"/>
              </a:defRPr>
            </a:pPr>
            <a:r>
              <a:t>Category: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120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Health &amp; Fitness (primary), Lifestyle (secondary)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68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B3C7"/>
                </a:solidFill>
                <a:latin typeface="Calibri"/>
              </a:defRPr>
            </a:pPr>
            <a:r>
              <a:t>iOS Title: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4681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Unmatch — Break the Swipe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155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B3C7"/>
                </a:solidFill>
                <a:latin typeface="Calibri"/>
              </a:defRPr>
            </a:pPr>
            <a:r>
              <a:t>Play Store: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81558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Unmatch: Stop Swiping, Start Living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Channel Strategy: Reddit &amp; Social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120640" cy="5029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50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00"/>
                </a:solidFill>
                <a:latin typeface="Calibri"/>
              </a:defRPr>
            </a:pPr>
            <a:r>
              <a:t>Reddit — Highest-Value Organic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r/dating (2M+), r/OnlineDating (200K+)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r/Tinder (6M+), r/hingeapp, r/Bumble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6829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r/nosurf (300K+), r/digitalminimalism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r/selfimprovement (2M+)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535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APPROACH: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387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Participate genuinely, no direct 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313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Post "I built this" in r/sideproject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Comment with value-first advice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165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Create r/unmatchapp community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120640" cy="5029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188720"/>
            <a:ext cx="5120640" cy="50800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371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E2C55"/>
                </a:solidFill>
                <a:latin typeface="Calibri"/>
              </a:defRPr>
            </a:pPr>
            <a:r>
              <a:t>TikTok / Instagram Reels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783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"Did you know" hooks — dating app tactics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0756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Relatable skits — swiping at 2am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36829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Calm content — 60s reset screen recordings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6090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Testimonials (once users exist)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9535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246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CADENCE: 3–5x/week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5387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Repurpose to YouTube Shorts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313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1239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CONTENT ANGLES: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4165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"Tinder sends notifs at 10pm because..."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09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"You spend X hours/year swiping"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Channel Strategy: Content &amp; Partnerships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41148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474720" cy="50800"/>
          </a:xfrm>
          <a:prstGeom prst="rect">
            <a:avLst/>
          </a:prstGeom>
          <a:solidFill>
            <a:srgbClr val="47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7C28B"/>
                </a:solidFill>
                <a:latin typeface="Calibri"/>
              </a:defRPr>
            </a:pPr>
            <a:r>
              <a:t>SEO Blog (Substack/Ghost)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"How to Stop Swiping on Tinder"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"Dating App Addiction: Signs"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682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"I Spent $500 on Hinge"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"The 60-Second Rule"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535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"Why Deleting Apps Fails"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38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Naturally mentions Unmatch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3133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Link to App Store from each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188720"/>
            <a:ext cx="3474720" cy="41148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188720"/>
            <a:ext cx="3474720" cy="50800"/>
          </a:xfrm>
          <a:prstGeom prst="rect">
            <a:avLst/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371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AA7FF"/>
                </a:solidFill>
                <a:latin typeface="Calibri"/>
              </a:defRPr>
            </a:pPr>
            <a:r>
              <a:t>Podcast Guest Spots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Digital wellness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0756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Modern dating culture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3682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Personal finance (spend angle)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6609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Indie app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9535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TALKING POINTS: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38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The niche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83133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Product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1239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(offline, no account, stealth)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1188720"/>
            <a:ext cx="3474720" cy="41148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1188720"/>
            <a:ext cx="3474720" cy="5080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1371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C14E"/>
                </a:solidFill>
                <a:latin typeface="Calibri"/>
              </a:defRPr>
            </a:pPr>
            <a:r>
              <a:t>Strategic Partnerships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Therapists/counselors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20756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→ Free clinician info sheet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23682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6609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Digital wellness influencers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9535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→ Micro (5K–50K followers)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→ Free promo codes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538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83133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Financial literacy creators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41239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→ Spend angle is underserved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Launch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606040" cy="5029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606040" cy="50800"/>
          </a:xfrm>
          <a:prstGeom prst="rect">
            <a:avLst/>
          </a:prstGeom>
          <a:solidFill>
            <a:srgbClr val="A7B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B3C7"/>
                </a:solidFill>
                <a:latin typeface="Calibri"/>
              </a:defRPr>
            </a:pPr>
            <a:r>
              <a:t>Phase 0: Pre-Launch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2–4 weeks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682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Landing page +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Create social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535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Post 2x/week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Seed Reddit 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387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Prepare press 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313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Reach out to 5–10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micro-influencers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1188720"/>
            <a:ext cx="2606040" cy="5029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1188720"/>
            <a:ext cx="2606040" cy="5080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3716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8DFF"/>
                </a:solidFill>
                <a:latin typeface="Calibri"/>
              </a:defRPr>
            </a:pPr>
            <a:r>
              <a:t>Phase 1: Soft 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7830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Weeks 1–2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0756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3682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Submit to App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66090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"I built this" posts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9535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Email waitlist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2461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First blog 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5387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Product Hunt 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8313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Launch video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1239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Indie app directories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188720"/>
            <a:ext cx="2606040" cy="5029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1188720"/>
            <a:ext cx="2606040" cy="50800"/>
          </a:xfrm>
          <a:prstGeom prst="rect">
            <a:avLst/>
          </a:prstGeom>
          <a:solidFill>
            <a:srgbClr val="47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13716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7C28B"/>
                </a:solidFill>
                <a:latin typeface="Calibri"/>
              </a:defRPr>
            </a:pPr>
            <a:r>
              <a:t>Phase 2: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7830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Weeks 3–8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0756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3682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Ramp to 4x/week content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66090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Reddit AMA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9535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ASO iteration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2461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Collect first reviews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5387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Pitch 3–5 podcasts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8313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Press release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1239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(dating app economy)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72600" y="1188720"/>
            <a:ext cx="2606040" cy="5029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72600" y="1188720"/>
            <a:ext cx="2606040" cy="5080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13716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C14E"/>
                </a:solidFill>
                <a:latin typeface="Calibri"/>
              </a:defRPr>
            </a:pPr>
            <a:r>
              <a:t>Phase 3: Sustain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17830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Month 3+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20756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3682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Referral program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266090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A/B test paywall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29535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Apple Search Ads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32461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($5–10/day)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35387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Build community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8313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Monthly content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1239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Price promotions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Conversion Funnel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9590" y="1280160"/>
            <a:ext cx="1371600" cy="502920"/>
          </a:xfrm>
          <a:prstGeom prst="roundRect">
            <a:avLst/>
          </a:prstGeom>
          <a:solidFill>
            <a:srgbClr val="A7B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9590" y="1330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 Store Impression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2390" y="1938528"/>
            <a:ext cx="2286000" cy="502920"/>
          </a:xfrm>
          <a:prstGeom prst="roundRect">
            <a:avLst/>
          </a:prstGeom>
          <a:solidFill>
            <a:srgbClr val="22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390" y="19893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Download (Free)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3790" y="2596896"/>
            <a:ext cx="2743200" cy="502920"/>
          </a:xfrm>
          <a:prstGeom prst="round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3790" y="264769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Complete Onboarding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5190" y="3255264"/>
            <a:ext cx="3200400" cy="502920"/>
          </a:xfrm>
          <a:prstGeom prst="roundRect">
            <a:avLst/>
          </a:prstGeom>
          <a:solidFill>
            <a:srgbClr val="35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190" y="33060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Try 1 Free Panic Reset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6590" y="3913632"/>
            <a:ext cx="3657600" cy="502920"/>
          </a:xfrm>
          <a:prstGeom prst="roundRect">
            <a:avLst/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6590" y="39644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See Paywall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5190" y="4572000"/>
            <a:ext cx="3200400" cy="50292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190" y="4622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Purchase ($6.99)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23790" y="5230368"/>
            <a:ext cx="2743200" cy="502920"/>
          </a:xfrm>
          <a:prstGeom prst="roundRect">
            <a:avLst/>
          </a:prstGeom>
          <a:solidFill>
            <a:srgbClr val="3A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3790" y="5281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7 Active 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0990" y="5888736"/>
            <a:ext cx="1828800" cy="502920"/>
          </a:xfrm>
          <a:prstGeom prst="roundRect">
            <a:avLst/>
          </a:prstGeom>
          <a:solidFill>
            <a:srgbClr val="47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0990" y="59395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Leave a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Metrics &amp;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50292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1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6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0698480" cy="475488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9991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Downloads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999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500 – 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999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8DFF"/>
                </a:solidFill>
                <a:latin typeface="Calibri"/>
              </a:defRPr>
            </a:pPr>
            <a:r>
              <a:t>5,000 – 10,000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50007"/>
            <a:ext cx="10698480" cy="475488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75407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Install → Paywall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7540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70%+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54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8DFF"/>
                </a:solidFill>
                <a:latin typeface="Calibri"/>
              </a:defRPr>
            </a:pPr>
            <a:r>
              <a:t>70%+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25495"/>
            <a:ext cx="10698480" cy="475488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50895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Paywall → Purchase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50895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15 – 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50895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8DFF"/>
                </a:solidFill>
                <a:latin typeface="Calibri"/>
              </a:defRPr>
            </a:pPr>
            <a:r>
              <a:t>20 – 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00983"/>
            <a:ext cx="10698480" cy="475488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26383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Day 1 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326383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40%+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26383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8DFF"/>
                </a:solidFill>
                <a:latin typeface="Calibri"/>
              </a:defRPr>
            </a:pPr>
            <a:r>
              <a:t>50%+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76471"/>
            <a:ext cx="10698480" cy="475488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01871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Day 7 Retention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80187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20%+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80187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8DFF"/>
                </a:solidFill>
                <a:latin typeface="Calibri"/>
              </a:defRPr>
            </a:pPr>
            <a:r>
              <a:t>30%+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51959"/>
            <a:ext cx="10698480" cy="475488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7735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Day 30 Retention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27735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10%+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2773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8DFF"/>
                </a:solidFill>
                <a:latin typeface="Calibri"/>
              </a:defRPr>
            </a:pPr>
            <a:r>
              <a:t>15%+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727447"/>
            <a:ext cx="10698480" cy="475488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752847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Average Rating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75284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4.5+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75284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8DFF"/>
                </a:solidFill>
                <a:latin typeface="Calibri"/>
              </a:defRPr>
            </a:pPr>
            <a:r>
              <a:t>4.5+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202935"/>
            <a:ext cx="10698480" cy="475488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228335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228335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$500 – $1,750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228335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8DFF"/>
                </a:solidFill>
                <a:latin typeface="Calibri"/>
              </a:defRPr>
            </a:pPr>
            <a:r>
              <a:t>$7,000 – $21,000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Budget: Lean Launch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50292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0698480" cy="4572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9991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Apple Developer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999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$99/year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999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31719"/>
            <a:ext cx="10698480" cy="4572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5711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Google Play 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571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$25 one-time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3571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88919"/>
            <a:ext cx="10698480" cy="4572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1431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143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$15/year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8143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Landing page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19"/>
            <a:ext cx="10698480" cy="4572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7151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71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71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Vercel/Netlify free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03319"/>
            <a:ext cx="10698480" cy="4572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2871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Blog (Substack/Ghost)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7287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7287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Free tier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60519"/>
            <a:ext cx="10698480" cy="4572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18591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Content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1859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$0 – $30/mo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1859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Canva free or Pro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617719"/>
            <a:ext cx="10698480" cy="45720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64311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Apple Search Ads (Phase 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6431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$150 – $300/mo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6431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Start small, measure CPA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74919"/>
            <a:ext cx="10698480" cy="4572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0031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Influencer Gifting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1003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C28B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1003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B3C7"/>
                </a:solidFill>
                <a:latin typeface="Calibri"/>
              </a:defRPr>
            </a:pPr>
            <a:r>
              <a:t>Promo codes, not cash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806439"/>
            <a:ext cx="10698480" cy="54864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85723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Total Month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8572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7C28B"/>
                </a:solidFill>
                <a:latin typeface="Calibri"/>
              </a:defRPr>
            </a:pPr>
            <a:r>
              <a:t>~$150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6446519"/>
            <a:ext cx="10698480" cy="54864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649731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Total Month 3 (with ads)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64973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2C14E"/>
                </a:solidFill>
                <a:latin typeface="Calibri"/>
              </a:defRPr>
            </a:pPr>
            <a:r>
              <a:t>$300 – $600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Risks &amp; Mitigation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502920"/>
          </a:xfrm>
          <a:prstGeom prst="roundRect">
            <a:avLst/>
          </a:prstGeom>
          <a:solidFill>
            <a:srgbClr val="5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777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23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7C28B"/>
                </a:solidFill>
                <a:latin typeface="Calibri"/>
              </a:defRPr>
            </a:pPr>
            <a:r>
              <a:t>Mitigation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698480" cy="54864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33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2C14E"/>
                </a:solidFill>
                <a:latin typeface="Calibri"/>
              </a:defRPr>
            </a:pPr>
            <a:r>
              <a:t>Why pay when I can just delete?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33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"You've tried that. 80% reinstall within a week."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0698480" cy="54864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8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2C14E"/>
                </a:solidFill>
                <a:latin typeface="Calibri"/>
              </a:defRPr>
            </a:pPr>
            <a:r>
              <a:t>App Store rejection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28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One-time non-consumable is simpler than subscriptions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10698480" cy="54864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22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2C14E"/>
                </a:solidFill>
                <a:latin typeface="Calibri"/>
              </a:defRPr>
            </a:pPr>
            <a:r>
              <a:t>Low conversion at $6.99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022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A/B test $4.99 and $3.99; consider free 3-day trial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10698480" cy="54864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6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2C14E"/>
                </a:solidFill>
                <a:latin typeface="Calibri"/>
              </a:defRPr>
            </a:pPr>
            <a:r>
              <a:t>Negative reviews (doesn't block)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616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Preempt in description: "Not a blocker. A reset tool."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10698480" cy="548640"/>
          </a:xfrm>
          <a:prstGeom prst="round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11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2C14E"/>
                </a:solidFill>
                <a:latin typeface="Calibri"/>
              </a:defRPr>
            </a:pPr>
            <a:r>
              <a:t>Copycats enter the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211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First-mover + community moat + brand &gt;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10698480" cy="54864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5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2C14E"/>
                </a:solidFill>
                <a:latin typeface="Calibri"/>
              </a:defRPr>
            </a:pPr>
            <a:r>
              <a:t>Content moderation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805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7"/>
                </a:solidFill>
                <a:latin typeface="Calibri"/>
              </a:defRPr>
            </a:pPr>
            <a:r>
              <a:t>Stay helpful, never astroturf, disclose creator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Long-Term Revenue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7B3C7"/>
                </a:solidFill>
                <a:latin typeface="Calibri"/>
              </a:defRPr>
            </a:pPr>
            <a:r>
              <a:t>Post-V1 opportunities once one-time unlock model is validated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2743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06040" cy="5080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8DFF"/>
                </a:solidFill>
                <a:latin typeface="Calibri"/>
              </a:defRPr>
            </a:pPr>
            <a:r>
              <a:t>Premium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$2.99/mo or $19.99/yr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328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254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Advanced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1810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Extended courses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107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Smart reminders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645920"/>
            <a:ext cx="2606040" cy="2743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1645920"/>
            <a:ext cx="2606040" cy="50800"/>
          </a:xfrm>
          <a:prstGeom prst="rect">
            <a:avLst/>
          </a:prstGeom>
          <a:solidFill>
            <a:srgbClr val="47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8288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7C28B"/>
                </a:solidFill>
                <a:latin typeface="Calibri"/>
              </a:defRPr>
            </a:pPr>
            <a:r>
              <a:t>Couple/Friend Packs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402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2 codes for $9.99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5328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8254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Viral growth mechanic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11810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Revenue multiplier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4107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Social proof driver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645920"/>
            <a:ext cx="2606040" cy="2743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1645920"/>
            <a:ext cx="2606040" cy="5080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18288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C14E"/>
                </a:solidFill>
                <a:latin typeface="Calibri"/>
              </a:defRPr>
            </a:pPr>
            <a:r>
              <a:t>Corporate Wellness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2402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B2B licensing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5328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8254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HR department benefit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11810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Enterprise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4107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Volume discounts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1645920"/>
            <a:ext cx="2606040" cy="274320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72600" y="1645920"/>
            <a:ext cx="2606040" cy="50800"/>
          </a:xfrm>
          <a:prstGeom prst="rect">
            <a:avLst/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18288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AA7FF"/>
                </a:solidFill>
                <a:latin typeface="Calibri"/>
              </a:defRPr>
            </a:pPr>
            <a:r>
              <a:t>Branded Partnerships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2402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Revenue share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5328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8254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Wellness brands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11810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Financial apps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4107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7"/>
                </a:solidFill>
                <a:latin typeface="Calibri"/>
              </a:defRPr>
            </a:pPr>
            <a:r>
              <a:t>•  Non-competing only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C8DFF"/>
                </a:solidFill>
                <a:latin typeface="Calibri"/>
              </a:defRPr>
            </a:pPr>
            <a:r>
              <a:t>Unmatch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6EDF7"/>
                </a:solidFill>
                <a:latin typeface="Calibri"/>
              </a:defRPr>
            </a:pPr>
            <a:r>
              <a:t>Take back your time from dating apps.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7B3C7"/>
                </a:solidFill>
                <a:latin typeface="Calibr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